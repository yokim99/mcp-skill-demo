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MCP 与 Skill 的区别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4475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E3E3"/>
                </a:solidFill>
                <a:latin typeface="微软雅黑"/>
                <a:ea typeface="微软雅黑"/>
                <a:cs typeface="微软雅黑"/>
              </a:rPr>
              <a:t>一个解决“能连什么”，一个解决“怎么做”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51760"/>
            <a:ext cx="5120640" cy="356616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88036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C7000B"/>
                </a:solidFill>
                <a:latin typeface="微软雅黑"/>
                <a:ea typeface="微软雅黑"/>
                <a:cs typeface="微软雅黑"/>
              </a:rPr>
              <a:t>MCP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Model Context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77639"/>
            <a:ext cx="45720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一套开放标准协议，让 AI 连接外部工具与数据源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· 像“USB 接口”，插上就能调用数据库、API、文件系统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· 客户端—服务器架构，运行时按需调用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· 解决“AI 够不够得着外部世界”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651760"/>
            <a:ext cx="5120640" cy="356616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2700">
            <a:solidFill>
              <a:srgbClr val="1B4F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88036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B4F9C"/>
                </a:solidFill>
                <a:latin typeface="微软雅黑"/>
                <a:ea typeface="微软雅黑"/>
                <a:cs typeface="微软雅黑"/>
              </a:rPr>
              <a:t>Skill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能力包 / 技能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3977639"/>
            <a:ext cx="45720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一份能力包，用指令与脚本告诉 AI 特定任务该怎么做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· 像“操作手册”，照着就能把活干对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· 通常是文件（SKILL.md + 脚本资源），零依赖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· 解决“AI 做得对不对、像不像专家”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六个维度，看清差异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MCP 是“通道”，Skill 是“经验”——两者维度不同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64208"/>
            <a:ext cx="1280160" cy="381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2377440" cy="566928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84247"/>
            <a:ext cx="2103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对比维度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874519"/>
            <a:ext cx="4251960" cy="566928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1984247"/>
            <a:ext cx="3977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MCP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80" y="1874519"/>
            <a:ext cx="4251960" cy="566928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984247"/>
            <a:ext cx="3977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Skill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441447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42031"/>
            <a:ext cx="2103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本质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2441447"/>
            <a:ext cx="42519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2542031"/>
            <a:ext cx="3977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7000B"/>
                </a:solidFill>
                <a:latin typeface="微软雅黑"/>
                <a:ea typeface="微软雅黑"/>
                <a:cs typeface="微软雅黑"/>
              </a:rPr>
              <a:t>通信协议 / 接口标准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9480" y="2441447"/>
            <a:ext cx="42519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2542031"/>
            <a:ext cx="3977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4F9C"/>
                </a:solidFill>
                <a:latin typeface="微软雅黑"/>
                <a:ea typeface="微软雅黑"/>
                <a:cs typeface="微软雅黑"/>
              </a:rPr>
              <a:t>指令 + 资源的能力包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008375"/>
            <a:ext cx="2377440" cy="56692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108959"/>
            <a:ext cx="2103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解决的问题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3008375"/>
            <a:ext cx="4251960" cy="56692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3108959"/>
            <a:ext cx="3977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7000B"/>
                </a:solidFill>
                <a:latin typeface="微软雅黑"/>
                <a:ea typeface="微软雅黑"/>
                <a:cs typeface="微软雅黑"/>
              </a:rPr>
              <a:t>能不能访问外部系统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80" y="3008375"/>
            <a:ext cx="4251960" cy="56692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3108959"/>
            <a:ext cx="3977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4F9C"/>
                </a:solidFill>
                <a:latin typeface="微软雅黑"/>
                <a:ea typeface="微软雅黑"/>
                <a:cs typeface="微软雅黑"/>
              </a:rPr>
              <a:t>如何高质量完成特定任务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575303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675887"/>
            <a:ext cx="2103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形态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3575303"/>
            <a:ext cx="42519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54680" y="3675887"/>
            <a:ext cx="3977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7000B"/>
                </a:solidFill>
                <a:latin typeface="微软雅黑"/>
                <a:ea typeface="微软雅黑"/>
                <a:cs typeface="微软雅黑"/>
              </a:rPr>
              <a:t>客户端—服务器，需运行服务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69480" y="3575303"/>
            <a:ext cx="42519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3675887"/>
            <a:ext cx="3977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4F9C"/>
                </a:solidFill>
                <a:latin typeface="微软雅黑"/>
                <a:ea typeface="微软雅黑"/>
                <a:cs typeface="微软雅黑"/>
              </a:rPr>
              <a:t>纯文件（SKILL.md + 脚本）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142231"/>
            <a:ext cx="2377440" cy="56692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242815"/>
            <a:ext cx="2103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生效时机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4142231"/>
            <a:ext cx="4251960" cy="56692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54680" y="4242815"/>
            <a:ext cx="3977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7000B"/>
                </a:solidFill>
                <a:latin typeface="微软雅黑"/>
                <a:ea typeface="微软雅黑"/>
                <a:cs typeface="微软雅黑"/>
              </a:rPr>
              <a:t>运行时动态调用工具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69480" y="4142231"/>
            <a:ext cx="4251960" cy="56692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4242815"/>
            <a:ext cx="3977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4F9C"/>
                </a:solidFill>
                <a:latin typeface="微软雅黑"/>
                <a:ea typeface="微软雅黑"/>
                <a:cs typeface="微软雅黑"/>
              </a:rPr>
              <a:t>加载进上下文，指导行为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709159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809743"/>
            <a:ext cx="2103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依赖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4709159"/>
            <a:ext cx="42519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54680" y="4809743"/>
            <a:ext cx="3977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7000B"/>
                </a:solidFill>
                <a:latin typeface="微软雅黑"/>
                <a:ea typeface="微软雅黑"/>
                <a:cs typeface="微软雅黑"/>
              </a:rPr>
              <a:t>需连接服务、鉴权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69480" y="4709159"/>
            <a:ext cx="42519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06640" y="4809743"/>
            <a:ext cx="3977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4F9C"/>
                </a:solidFill>
                <a:latin typeface="微软雅黑"/>
                <a:ea typeface="微软雅黑"/>
                <a:cs typeface="微软雅黑"/>
              </a:rPr>
              <a:t>通常零依赖，拷文件即可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276087"/>
            <a:ext cx="2377440" cy="56692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376671"/>
            <a:ext cx="2103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一句话类比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17520" y="5276087"/>
            <a:ext cx="4251960" cy="56692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54680" y="5376671"/>
            <a:ext cx="3977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7000B"/>
                </a:solidFill>
                <a:latin typeface="微软雅黑"/>
                <a:ea typeface="微软雅黑"/>
                <a:cs typeface="微软雅黑"/>
              </a:rPr>
              <a:t>USB 接口：插上就能用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69480" y="5276087"/>
            <a:ext cx="4251960" cy="56692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06640" y="5376671"/>
            <a:ext cx="3977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4F9C"/>
                </a:solidFill>
                <a:latin typeface="微软雅黑"/>
                <a:ea typeface="微软雅黑"/>
                <a:cs typeface="微软雅黑"/>
              </a:rPr>
              <a:t>操作手册：照着就能干好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不是二选一，而是相互配合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MCP 给“手脚”，Skill 给“大脑”——组合起来才是专家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64208"/>
            <a:ext cx="1280160" cy="381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017520" cy="1371600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 w="12700">
            <a:solidFill>
              <a:srgbClr val="1B4F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50592"/>
            <a:ext cx="2651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B4F9C"/>
                </a:solidFill>
                <a:latin typeface="微软雅黑"/>
                <a:ea typeface="微软雅黑"/>
                <a:cs typeface="微软雅黑"/>
              </a:rPr>
              <a:t>① Skill 决策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决定“这会怎么干”
评审规则、步骤、话术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194560"/>
            <a:ext cx="3017520" cy="1371600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450592"/>
            <a:ext cx="2651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C7000B"/>
                </a:solidFill>
                <a:latin typeface="微软雅黑"/>
                <a:ea typeface="微软雅黑"/>
                <a:cs typeface="微软雅黑"/>
              </a:rPr>
              <a:t>② MCP 取数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把代码/数据/接口
取回到 AI 面前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2194560"/>
            <a:ext cx="3017520" cy="1371600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2450592"/>
            <a:ext cx="2651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③ 输出结果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既有“料”又有“法”
给出专业交付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703320" y="2697480"/>
            <a:ext cx="822960" cy="365760"/>
          </a:xfrm>
          <a:prstGeom prst="rightArrow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635240" y="2697480"/>
            <a:ext cx="822960" cy="365760"/>
          </a:xfrm>
          <a:prstGeom prst="rightArrow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3977639"/>
            <a:ext cx="10881360" cy="123444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7000B"/>
                </a:solidFill>
                <a:latin typeface="微软雅黑"/>
                <a:ea typeface="微软雅黑"/>
                <a:cs typeface="微软雅黑"/>
              </a:rPr>
              <a:t>例子：一次“代码评审”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评审 Skill 提供“怎么评”的标准与方法  →  MCP 通过 Git 工具把代码拉回来  →  AI 按标准给出评审意见。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40680"/>
            <a:ext cx="10881360" cy="868680"/>
          </a:xfrm>
          <a:prstGeom prst="roundRect">
            <a:avLst>
              <a:gd name="adj" fmla="val 1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96128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一句话：MCP 解决“连得上”，Skill 解决“用得好”。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